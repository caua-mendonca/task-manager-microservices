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914400"/>
            <a:ext cx="1280160" cy="1280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2560320"/>
            <a:ext cx="822960" cy="82296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114800"/>
            <a:ext cx="1005840" cy="1005840"/>
          </a:xfrm>
          <a:prstGeom prst="ellipse">
            <a:avLst/>
          </a:prstGeom>
          <a:solidFill>
            <a:srgbClr val="03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005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  <a:latin typeface="Calibri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4206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91440" cy="2926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41148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81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Desenvolvimento de Software para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Task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00B4D8"/>
                </a:solidFill>
                <a:latin typeface="Calibri"/>
              </a:rPr>
              <a:t>Microservices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CFE8"/>
                </a:solidFill>
                <a:latin typeface="Calibri"/>
              </a:rPr>
              <a:t>Equipe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Cauã Mendonça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Arthur Carvalhais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Guilherme Souza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Julio Pimentel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Luis Barbosa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Renan Prado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CFE8"/>
                </a:solidFill>
                <a:latin typeface="Calibri"/>
              </a:rPr>
              <a:t>15 de Junho de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Julio — 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Visão Geral do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383280" cy="19202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🎯 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API REST para gerenciamento de tarefas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Arquitetura de microserviços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Escalável e orientada a boas práticas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97280"/>
            <a:ext cx="3566160" cy="19202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❓  Problema Resolvido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00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Sistemas monolíticos não escalam bem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Sem separação de responsabilidades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Difícil manutenção e deploy independente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97280"/>
            <a:ext cx="3931920" cy="19202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✅  Solução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6002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4 serviços independentes + gateway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Cada serviço com sua responsabilidade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•  Deploy via Docker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Stack Tecnológica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105156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Node.js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3794760"/>
            <a:ext cx="10515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3352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Express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8064" y="3794760"/>
            <a:ext cx="105156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43784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MongoDB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8496" y="3794760"/>
            <a:ext cx="10515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4216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Docker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3794760"/>
            <a:ext cx="105156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JWT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794760"/>
            <a:ext cx="105156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Prometheus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79792" y="3794760"/>
            <a:ext cx="1051560" cy="38404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25512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Grafana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0224" y="3794760"/>
            <a:ext cx="105156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5944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k6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0656" y="3794760"/>
            <a:ext cx="10515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66376" y="3822191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Swagger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CFE8"/>
                </a:solidFill>
                <a:latin typeface="Calibri"/>
              </a:rPr>
              <a:t>Fluxo de uma requisição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63440"/>
            <a:ext cx="14173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Cliente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1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9584" y="4663440"/>
            <a:ext cx="14173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57016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API Gateway :3000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5776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01968" y="4663440"/>
            <a:ext cx="14173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Microserviço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709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74352" y="4663440"/>
            <a:ext cx="141732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01784" y="46908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MongoDB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Arthur —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Arquitetura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960120"/>
            <a:ext cx="10515600" cy="4480560"/>
          </a:xfrm>
          <a:prstGeom prst="rect">
            <a:avLst/>
          </a:prstGeom>
          <a:solidFill>
            <a:srgbClr val="0A2035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960120"/>
            <a:ext cx="19202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969264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1B2A"/>
                </a:solidFill>
                <a:latin typeface="Calibri"/>
              </a:rPr>
              <a:t>  Docker Network: task_network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960120"/>
            <a:ext cx="1234440" cy="4480560"/>
          </a:xfrm>
          <a:prstGeom prst="rect">
            <a:avLst/>
          </a:prstGeom>
          <a:solidFill>
            <a:srgbClr val="0D2238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" y="987552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588AA"/>
                </a:solidFill>
                <a:latin typeface="Calibri"/>
              </a:rPr>
              <a:t>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2103120"/>
            <a:ext cx="1143000" cy="1371600"/>
          </a:xfrm>
          <a:prstGeom prst="rect">
            <a:avLst/>
          </a:prstGeom>
          <a:solidFill>
            <a:srgbClr val="0D2E4A"/>
          </a:solidFill>
          <a:ln w="12700">
            <a:solidFill>
              <a:srgbClr val="44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" y="217627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CFE8"/>
                </a:solidFill>
                <a:latin typeface="Calibri"/>
              </a:rPr>
              <a:t>Browser
/ App
/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77BBDD"/>
                </a:solidFill>
                <a:latin typeface="Calibri"/>
              </a:rPr>
              <a:t>HTTPS
:3000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8448" y="2688336"/>
            <a:ext cx="201168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54203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298448"/>
            <a:ext cx="2194560" cy="3749039"/>
          </a:xfrm>
          <a:prstGeom prst="rect">
            <a:avLst/>
          </a:prstGeom>
          <a:solidFill>
            <a:srgbClr val="0C28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13533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  <a:latin typeface="Calibri"/>
              </a:rPr>
              <a:t>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1627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8CAE4"/>
                </a:solidFill>
                <a:latin typeface="Calibri"/>
              </a:rPr>
              <a:t>porta  :3000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901952"/>
            <a:ext cx="20116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45920" y="2039112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19659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Rate Limiting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16712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20.000 req / 15 min / IP</a:t>
            </a:r>
          </a:p>
        </p:txBody>
      </p:sp>
      <p:sp>
        <p:nvSpPr>
          <p:cNvPr id="24" name="Oval 23"/>
          <p:cNvSpPr/>
          <p:nvPr/>
        </p:nvSpPr>
        <p:spPr>
          <a:xfrm>
            <a:off x="1645920" y="2468880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239572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59689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controla origens permitidas</a:t>
            </a:r>
          </a:p>
        </p:txBody>
      </p:sp>
      <p:sp>
        <p:nvSpPr>
          <p:cNvPr id="27" name="Oval 26"/>
          <p:cNvSpPr/>
          <p:nvPr/>
        </p:nvSpPr>
        <p:spPr>
          <a:xfrm>
            <a:off x="1645920" y="2898648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282549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Helmet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0266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headers de segurança HTTP</a:t>
            </a:r>
          </a:p>
        </p:txBody>
      </p:sp>
      <p:sp>
        <p:nvSpPr>
          <p:cNvPr id="30" name="Oval 29"/>
          <p:cNvSpPr/>
          <p:nvPr/>
        </p:nvSpPr>
        <p:spPr>
          <a:xfrm>
            <a:off x="1645920" y="3328415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325526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Proxy Reverso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45643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encaminha para o servico certo</a:t>
            </a:r>
          </a:p>
        </p:txBody>
      </p:sp>
      <p:sp>
        <p:nvSpPr>
          <p:cNvPr id="33" name="Oval 32"/>
          <p:cNvSpPr/>
          <p:nvPr/>
        </p:nvSpPr>
        <p:spPr>
          <a:xfrm>
            <a:off x="1645920" y="3758183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368503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JWT pass-through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886199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nao valida, apenas repassa</a:t>
            </a:r>
          </a:p>
        </p:txBody>
      </p:sp>
      <p:sp>
        <p:nvSpPr>
          <p:cNvPr id="36" name="Oval 35"/>
          <p:cNvSpPr/>
          <p:nvPr/>
        </p:nvSpPr>
        <p:spPr>
          <a:xfrm>
            <a:off x="1645920" y="4187952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4114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expoe /metrics proprias</a:t>
            </a:r>
          </a:p>
        </p:txBody>
      </p:sp>
      <p:sp>
        <p:nvSpPr>
          <p:cNvPr id="39" name="Oval 38"/>
          <p:cNvSpPr/>
          <p:nvPr/>
        </p:nvSpPr>
        <p:spPr>
          <a:xfrm>
            <a:off x="1645920" y="4617720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45445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Health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7457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FE8"/>
                </a:solidFill>
                <a:latin typeface="Calibri"/>
              </a:rPr>
              <a:t>GET /health sempre disponivel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21608" y="2240280"/>
            <a:ext cx="50292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9080" y="207568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8CAE4"/>
                </a:solidFill>
                <a:latin typeface="Calibri"/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21608" y="3337560"/>
            <a:ext cx="50292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317296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8CAE4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21608" y="4434840"/>
            <a:ext cx="50292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4270248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8CAE4"/>
                </a:solidFill>
                <a:latin typeface="Calibri"/>
              </a:rPr>
              <a:t>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0752" y="32004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48CAE4"/>
                </a:solidFill>
                <a:latin typeface="Calibri"/>
              </a:rPr>
              <a:t>HTTP REST
Interno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1298448"/>
            <a:ext cx="3749039" cy="1261872"/>
          </a:xfrm>
          <a:prstGeom prst="rect">
            <a:avLst/>
          </a:prstGeom>
          <a:solidFill>
            <a:srgbClr val="16324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1298448"/>
            <a:ext cx="3749039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133502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AUTH SERVICE   :3001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1645920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POST /register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1645920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cria usuario + hash bcrypt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0832" y="1824228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POST /login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1824228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valida senha, gera JWT HS256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2002536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GET /me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2002536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dados do usuario autenticado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0832" y="2180844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POST /refresh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2180844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renova token JWT (7 dias)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2359152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  <a:latin typeface="Courier New"/>
              </a:rPr>
              <a:t>Colecao MongoDB: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2359152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4D8"/>
                </a:solidFill>
                <a:latin typeface="Calibri"/>
              </a:rPr>
              <a:t>users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97680" y="2715768"/>
            <a:ext cx="3749039" cy="1261872"/>
          </a:xfrm>
          <a:prstGeom prst="rect">
            <a:avLst/>
          </a:prstGeom>
          <a:solidFill>
            <a:srgbClr val="16324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7680" y="2715768"/>
            <a:ext cx="3749039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2752344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TASK SERVICE   :3002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0832" y="3063240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GET /tasks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3063240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lista c/ filtros + paginacao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0832" y="3241548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POST /tasks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3241548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cria tarefa (createdBy = JWT id)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0832" y="3419856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PUT/PATCH /tasks/:id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80760" y="3419856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atualiza tarefa ou status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0832" y="3598164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DELETE /tasks/:id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0760" y="3598164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soft delete (deletedAt)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0832" y="3776472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D6A0"/>
                </a:solidFill>
                <a:latin typeface="Courier New"/>
              </a:rPr>
              <a:t>Colecao MongoDB: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0760" y="3776472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D6A0"/>
                </a:solidFill>
                <a:latin typeface="Calibri"/>
              </a:rPr>
              <a:t>tasks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4133087"/>
            <a:ext cx="3749039" cy="1261872"/>
          </a:xfrm>
          <a:prstGeom prst="rect">
            <a:avLst/>
          </a:prstGeom>
          <a:solidFill>
            <a:srgbClr val="16324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97680" y="4133087"/>
            <a:ext cx="3749039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43400" y="4169663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USER SERVICE   :3003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70832" y="4480559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GET /users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4480559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lista usuarios (admin only)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0832" y="4658867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GET /users/:id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60" y="4658867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busca perfil por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70832" y="4837175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PUT /users/:id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4837175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atualiza nome, bio, avatar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0832" y="5015483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8CAE4"/>
                </a:solidFill>
                <a:latin typeface="Courier New"/>
              </a:rPr>
              <a:t>DELETE /users/:id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0760" y="5015483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soft delete (admin only)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70832" y="5193791"/>
            <a:ext cx="16916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D166"/>
                </a:solidFill>
                <a:latin typeface="Courier New"/>
              </a:rPr>
              <a:t>Colecao MongoDB: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193791"/>
            <a:ext cx="19202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D166"/>
                </a:solidFill>
                <a:latin typeface="Calibri"/>
              </a:rPr>
              <a:t>users  (SHARED c/ auth)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65008" y="2148840"/>
            <a:ext cx="36576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▶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65008" y="3246120"/>
            <a:ext cx="36576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21040" y="309067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65008" y="4343400"/>
            <a:ext cx="36576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0" y="41879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  <a:latin typeface="Calibri"/>
              </a:rPr>
              <a:t>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74152" y="3063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D166"/>
                </a:solidFill>
                <a:latin typeface="Calibri"/>
              </a:rPr>
              <a:t>Mongoose
ODM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49640" y="1298448"/>
            <a:ext cx="1691640" cy="3749039"/>
          </a:xfrm>
          <a:prstGeom prst="rect">
            <a:avLst/>
          </a:prstGeom>
          <a:solidFill>
            <a:srgbClr val="142A1A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67928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  <a:latin typeface="Calibri"/>
              </a:rPr>
              <a:t>MongoDB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67928" y="16642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ECFE8"/>
                </a:solidFill>
                <a:latin typeface="Calibri"/>
              </a:rPr>
              <a:t>:27017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95360" y="19202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ECFE8"/>
                </a:solidFill>
                <a:latin typeface="Calibri"/>
              </a:rPr>
              <a:t>DB: taskmanager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41080" y="2176272"/>
            <a:ext cx="1463040" cy="182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95360" y="2240280"/>
            <a:ext cx="155448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41080" y="22768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Courier New"/>
              </a:rPr>
              <a:t>col: users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22792" y="25328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name, email, password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22792" y="280720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role, isActive, deletedAt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22792" y="3081527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B4D8"/>
                </a:solidFill>
                <a:latin typeface="Calibri"/>
              </a:rPr>
              <a:t>auth + user service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95360" y="3657600"/>
            <a:ext cx="155448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41080" y="36941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Courier New"/>
              </a:rPr>
              <a:t>col: tasks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22792" y="395020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title, status, priority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22792" y="422452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ECFE8"/>
                </a:solidFill>
                <a:latin typeface="Calibri"/>
              </a:rPr>
              <a:t>createdBy, deletedAt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22792" y="4498847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D6A0"/>
                </a:solidFill>
                <a:latin typeface="Calibri"/>
              </a:rPr>
              <a:t>task service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95360" y="5074920"/>
            <a:ext cx="1554480" cy="621792"/>
          </a:xfrm>
          <a:prstGeom prst="rect">
            <a:avLst/>
          </a:prstGeom>
          <a:solidFill>
            <a:srgbClr val="102210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641080" y="511149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D6A0"/>
                </a:solidFill>
                <a:latin typeface="Calibri"/>
              </a:rPr>
              <a:t>Volume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41080" y="5303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8ECFE8"/>
                </a:solidFill>
                <a:latin typeface="Calibri"/>
              </a:rPr>
              <a:t>mongo_data
(persistente)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40" y="5577840"/>
            <a:ext cx="11978640" cy="1024128"/>
          </a:xfrm>
          <a:prstGeom prst="rect">
            <a:avLst/>
          </a:prstGeom>
          <a:solidFill>
            <a:srgbClr val="101E10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64592" y="56052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6D6A0"/>
                </a:solidFill>
                <a:latin typeface="Calibri"/>
              </a:rPr>
              <a:t>MONITORAMENTO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600200" y="5596128"/>
            <a:ext cx="3246120" cy="914400"/>
          </a:xfrm>
          <a:prstGeom prst="rect">
            <a:avLst/>
          </a:prstGeom>
          <a:solidFill>
            <a:srgbClr val="16324F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709928" y="5669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Prometheus  :9090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09928" y="5961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ECFE8"/>
                </a:solidFill>
                <a:latin typeface="Calibri"/>
              </a:rPr>
              <a:t>Scrape /metrics de todos os 4 servicos a cada 15s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29200" y="5596128"/>
            <a:ext cx="3246120" cy="914400"/>
          </a:xfrm>
          <a:prstGeom prst="rect">
            <a:avLst/>
          </a:prstGeom>
          <a:solidFill>
            <a:srgbClr val="16324F"/>
          </a:solidFill>
          <a:ln w="9525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138928" y="5669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931E"/>
                </a:solidFill>
                <a:latin typeface="Calibri"/>
              </a:rPr>
              <a:t>Grafana  :3004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38928" y="5961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ECFE8"/>
                </a:solidFill>
                <a:latin typeface="Calibri"/>
              </a:rPr>
              <a:t>Dashboard auto-provisionado — 7 paineis em tempo real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58200" y="5596128"/>
            <a:ext cx="3246120" cy="914400"/>
          </a:xfrm>
          <a:prstGeom prst="rect">
            <a:avLst/>
          </a:prstGeom>
          <a:solidFill>
            <a:srgbClr val="16324F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67928" y="5669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k6  (container)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67928" y="5961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ECFE8"/>
                </a:solidFill>
                <a:latin typeface="Calibri"/>
              </a:rPr>
              <a:t>Load test — 100 VUs, 0% erros, p95=31ms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18488" y="5230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D166"/>
                </a:solidFill>
                <a:latin typeface="Calibri"/>
              </a:rPr>
              <a:t>◄── scrape /metrics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Guilherme —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Containerização com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mongo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:27017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Banco de dados
MongoDB 7.0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52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api-gateway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47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Proxy reverso
Rate Limit / CORS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52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  <a:latin typeface="Calibri"/>
              </a:rPr>
              <a:t>auth-service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:3001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47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Autenticação
JWT + Bcrypt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4300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252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task-service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:3002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9476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CRUD de tarefas
Soft Delete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user-service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:3003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679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Perfis de usuário
Admin /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06324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prometheus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:9090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8679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Métricas
Scrape 15s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6324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31E"/>
                </a:solidFill>
                <a:latin typeface="Calibri"/>
              </a:rPr>
              <a:t>grafana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:3004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8679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Dashboards
7 painéis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063240"/>
            <a:ext cx="2743200" cy="16459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k6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566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CFE8"/>
                </a:solidFill>
                <a:latin typeface="Calibri"/>
              </a:rP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8679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Load Test
100 VUs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Comandos essenciais: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532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CAE4"/>
                </a:solidFill>
                <a:latin typeface="Courier New"/>
              </a:rPr>
              <a:t>docker compose up -d   # sobe todos os serviços</a:t>
            </a:r>
          </a:p>
          <a:p>
            <a:pPr algn="l"/>
            <a:r>
              <a:rPr sz="1000" b="0">
                <a:solidFill>
                  <a:srgbClr val="48CAE4"/>
                </a:solidFill>
                <a:latin typeface="Courier New"/>
              </a:rPr>
              <a:t>docker compose ps       # verifica status</a:t>
            </a:r>
          </a:p>
          <a:p>
            <a:pPr algn="l"/>
            <a:r>
              <a:rPr sz="1000" b="0">
                <a:solidFill>
                  <a:srgbClr val="48CAE4"/>
                </a:solidFill>
                <a:latin typeface="Courier New"/>
              </a:rPr>
              <a:t>docker compose --profile testing run --rm k6 run /scripts/test.js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Guilherme — 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Banco de Dados —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Coleção 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94960" cy="29260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459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459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required, min 2 chars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253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00253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0253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unique, lowercase, 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59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591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59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bcrypt, select: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157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7157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7157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enum: admin |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07238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isActive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0723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Boolean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07238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default: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290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deletedAt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2900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4290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null = ativo  (soft delete)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85615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createdAt / updatedAt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785615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785615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timestamps automáticos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Coleção  tasks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554480"/>
            <a:ext cx="5760720" cy="29260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16459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1645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6459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required, 3-100 chars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00253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0025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0025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max 1000 chars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235915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3591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3591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pending|in_progress|done|cancelled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27157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7157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7157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low|medium|high|critical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07238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0723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07238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default: general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42900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createdBy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4290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String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3429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ID do usuário dono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85615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dueDate / tags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3785615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Date/[]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785615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prazo e etiquetas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14223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urier New"/>
              </a:rPr>
              <a:t>deletedAt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14223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20" y="41422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soft delete (null = ativo)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Estratégias de Consulta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0749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16636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Paginação: page + limit (skip/limit no MongoDB)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Filtros: status, priority, category, assignedTo, search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Text Search: índice em title + description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Soft Delete: todas as queries filtram  { deletedAt: null }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Índices: status, priority, createdBy, deletedAt (performance)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Renan — Funcionalidades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Funcionalidades da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8732520" cy="384048"/>
          </a:xfrm>
          <a:prstGeom prst="rect">
            <a:avLst/>
          </a:prstGeom>
          <a:solidFill>
            <a:srgbClr val="00B4D8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Rota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143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Descrição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9105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urier New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591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9105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5910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Registrar usuário — retorna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9933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urier New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1993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/api/auth/login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933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993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Login — retorna JWT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59152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95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ourier New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395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395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395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Listar tarefas (filtros + paginação)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980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urier New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798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7980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Criar tarefa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63824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00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ourier New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200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Buscar por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6027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ourier New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602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/api/tasks/name/:title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6027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602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Buscar por nome (regex)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68496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005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ourier New"/>
              </a:rPr>
              <a:t>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0050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Atualizar tarefa completa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407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  <a:latin typeface="Courier New"/>
              </a:rPr>
              <a:t>PATCH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44074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/api/tasks/:id/status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407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4407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Atualizar apenas status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73168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8097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C5C"/>
                </a:solidFill>
                <a:latin typeface="Courier New"/>
              </a:rPr>
              <a:t>DELETE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48097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8097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JWT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Soft delete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C5C"/>
                </a:solidFill>
                <a:latin typeface="Courier New"/>
              </a:rPr>
              <a:t>DELETE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3444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/api/tasks/:id/hard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Hard delete permanente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577840"/>
            <a:ext cx="8732520" cy="38404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ourier New"/>
              </a:rPr>
              <a:t>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56144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/api/tasks/:id/restore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56144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CFE8"/>
                </a:solidFill>
                <a:latin typeface="Calibri"/>
              </a:rPr>
              <a:t>Admin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5614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Restaurar tarefa deletada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Recursos Especiais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160020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1655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🗑  Soft Delete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19476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deletedAt field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237744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24323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🔍  Full-text Search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2724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índice MongoDB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315468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32095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📄  Paginação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3502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page + limit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393192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3986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↕  Ordenação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279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sortBy + order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470916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🔖  Filtros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5056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5 parâmetros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35440" y="5486400"/>
            <a:ext cx="274320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5541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♻  Restore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5833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apenas admin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Renan —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Demonstração da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1  Registrar usuário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94960" cy="12801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POST /api/auth/register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{ "name": "João", "email": "joao@test.com", "password": "senha123" }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→ 201  { "token": "eyJhbGci..."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2  Criar 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539496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POST /api/tasks   Authorization: Bearer &lt;token&gt;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{ "title": "Implementar API", "priority": "high",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  "status": "pending", "dueDate": "2026-06-15" }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→ 201  { "data": { "_id": "...", "title": "..." }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3  Listar tarefas com filtros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5394960" cy="12801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578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GET /api/tasks?status=pending&amp;priority=high&amp;page=1&amp;limit=10</a:t>
            </a:r>
          </a:p>
          <a:p>
            <a:pPr algn="l"/>
            <a:r>
              <a:rPr sz="950" b="0">
                <a:solidFill>
                  <a:srgbClr val="48CAE4"/>
                </a:solidFill>
                <a:latin typeface="Courier New"/>
              </a:rPr>
              <a:t>→ 200  { "data": [...], "pagination": { "total": 5, "page": 1 }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051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Fluxo de Demonstração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1508760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270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5453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Registrar usuário via POST /register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2112264"/>
            <a:ext cx="384048" cy="384048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13055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488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Fazer login via POST /login → obter JWT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2715768"/>
            <a:ext cx="384048" cy="38404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7340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523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Usar JWT no header Authorization: Bearer ...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3319272"/>
            <a:ext cx="384048" cy="38404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3375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3558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Criar tarefas com POST /tasks</a:t>
            </a:r>
          </a:p>
        </p:txBody>
      </p:sp>
      <p:sp>
        <p:nvSpPr>
          <p:cNvPr id="29" name="Oval 28"/>
          <p:cNvSpPr/>
          <p:nvPr/>
        </p:nvSpPr>
        <p:spPr>
          <a:xfrm>
            <a:off x="6035040" y="3922776"/>
            <a:ext cx="384048" cy="38404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9410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9593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Listar, filtrar e paginar com GET /tasks</a:t>
            </a:r>
          </a:p>
        </p:txBody>
      </p:sp>
      <p:sp>
        <p:nvSpPr>
          <p:cNvPr id="32" name="Oval 31"/>
          <p:cNvSpPr/>
          <p:nvPr/>
        </p:nvSpPr>
        <p:spPr>
          <a:xfrm>
            <a:off x="6035040" y="4526280"/>
            <a:ext cx="384048" cy="38404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544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628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Atualizar status: PATCH /tasks/:id/status</a:t>
            </a:r>
          </a:p>
        </p:txBody>
      </p:sp>
      <p:sp>
        <p:nvSpPr>
          <p:cNvPr id="35" name="Oval 34"/>
          <p:cNvSpPr/>
          <p:nvPr/>
        </p:nvSpPr>
        <p:spPr>
          <a:xfrm>
            <a:off x="6035040" y="5129783"/>
            <a:ext cx="384048" cy="384048"/>
          </a:xfrm>
          <a:prstGeom prst="ellipse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5148071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166359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Soft delete: DELETE /tasks/:id</a:t>
            </a:r>
          </a:p>
        </p:txBody>
      </p:sp>
      <p:sp>
        <p:nvSpPr>
          <p:cNvPr id="38" name="Oval 37"/>
          <p:cNvSpPr/>
          <p:nvPr/>
        </p:nvSpPr>
        <p:spPr>
          <a:xfrm>
            <a:off x="6035040" y="5733288"/>
            <a:ext cx="384048" cy="384048"/>
          </a:xfrm>
          <a:prstGeom prst="ellipse">
            <a:avLst/>
          </a:prstGeom>
          <a:solidFill>
            <a:srgbClr val="8EC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75157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7698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(admin) Restaurar: POST /tasks/:id/restore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Luis —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🔐  Autenticação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Token assinado com HS256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Payload: { id, email, role, name }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Expiração: 7 dias configurável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52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👤  Perfis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admin: acessa todos os recursos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user: acessa apenas os próprios dados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Verificação em cada middleware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4300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52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✅  Validação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express-validator em todos os inputs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Erros retornados com status 400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Campos obrigatórios e formatos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Calibri"/>
              </a:rPr>
              <a:t>🛡  Proteções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Helmet: headers de segurança (XSS, CSP)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CORS configurado por origin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Rate Limit: 20k req/15min por 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56616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6758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  <a:latin typeface="Calibri"/>
              </a:rPr>
              <a:t>🔒  Senhas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148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bcrypt com salt 12 rounds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Campo password: select: false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Nunca retornado nas queries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566160"/>
            <a:ext cx="3749039" cy="219456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6758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CFE8"/>
                </a:solidFill>
                <a:latin typeface="Calibri"/>
              </a:rPr>
              <a:t>🚫  Soft 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114800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Dados nunca apagados fisicamente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deletedAt filtra registros inativos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Hard delete restrito a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Luis —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Testes de Carga com k6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D6A0"/>
                </a:solidFill>
                <a:latin typeface="Calibri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Iterações
completas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11.029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Requisições
totais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D6A0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Taxa de
erros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10,66ms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Duração
média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166"/>
                </a:solidFill>
                <a:latin typeface="Calibri"/>
              </a:rPr>
              <a:t>31,02ms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p95
latência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097280"/>
            <a:ext cx="1828800" cy="13716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8CAE4"/>
                </a:solidFill>
                <a:latin typeface="Calibri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CFE8"/>
                </a:solidFill>
                <a:latin typeface="Calibri"/>
              </a:rPr>
              <a:t>VUs
máximos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Cenário de Carga (Staged VUs)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54680"/>
            <a:ext cx="274320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18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0→10 VUs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CFE8"/>
                </a:solidFill>
                <a:latin typeface="Calibri"/>
              </a:rPr>
              <a:t>30s  —  Ramp-up suave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154680"/>
            <a:ext cx="274320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218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10→50 VUs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CFE8"/>
                </a:solidFill>
                <a:latin typeface="Calibri"/>
              </a:rPr>
              <a:t>1min  —  Carga normal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154680"/>
            <a:ext cx="274320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218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50→100 VUs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CFE8"/>
                </a:solidFill>
                <a:latin typeface="Calibri"/>
              </a:rPr>
              <a:t>30s  —  Pico máximo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154680"/>
            <a:ext cx="274320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218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CFE8"/>
                </a:solidFill>
                <a:latin typeface="Calibri"/>
              </a:rPr>
              <a:t>100→0 VUs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ECFE8"/>
                </a:solidFill>
                <a:latin typeface="Calibri"/>
              </a:rPr>
              <a:t>30s  —  Ramp-down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Thresholds definidos: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A0"/>
                </a:solidFill>
                <a:latin typeface="Calibri"/>
              </a:rPr>
              <a:t>  •  http_req_duration  p(95) &lt; 500ms   ✅  p95 atingido: 31ms  (14× abaixo do limite)</a:t>
            </a:r>
          </a:p>
          <a:p>
            <a:pPr algn="l"/>
            <a:r>
              <a:rPr sz="1100" b="0">
                <a:solidFill>
                  <a:srgbClr val="06D6A0"/>
                </a:solidFill>
                <a:latin typeface="Calibri"/>
              </a:rPr>
              <a:t>  •  errors rate &lt; 10%                  ✅  taxa de erros: 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CFE8"/>
                </a:solidFill>
                <a:latin typeface="Calibri"/>
              </a:rPr>
              <a:t>Cada iteração k6 executa: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8CAE4"/>
                </a:solidFill>
                <a:latin typeface="Calibri"/>
              </a:rPr>
              <a:t>GET /health  →  POST /tasks (criar)  →  GET /tasks (listar)  →  GET /tasks/:id  →  PATCH status  →  DELETE (soft)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Courier New"/>
              </a:rPr>
              <a:t>MSYS_NO_PATHCONV=1  docker compose --profile testing run --rm k6 run /scripts/test.js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Cauã — Observabilidade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Observabilidade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23774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📊  Prometheus — :9090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Scrape dos 4 serviços a cada 15s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4 targets ativos e saudáveis (health: up)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Métrica customizada: http_requests_total{method,route,status}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Métricas Node.js padrão via prom-client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852160" cy="23774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931E"/>
                </a:solidFill>
                <a:latin typeface="Calibri"/>
              </a:rPr>
              <a:t>📈  Grafana — :3004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4592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Login: admin / admin123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Dashboard auto-provisionado (sem configuração manual)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7 painéis: Status, Req Rate, Total Reqs, Heap, CPU, Event Loop, Handles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Refresh automático a cada 10 segundos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Painéis do Dashboard  Task Manager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Service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902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Stat — saúde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11480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HTTP Request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5902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Time-series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Total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902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Stat — contador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11480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Node.js Heap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59028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Time-series — memória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CPU Usage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247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Time-series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34924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440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Event Loop 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8247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Time-series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349240"/>
            <a:ext cx="2788920" cy="100584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440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Active Handles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8247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Time-series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8CAE4"/>
                </a:solidFill>
                <a:latin typeface="Courier New"/>
              </a:rPr>
              <a:t>Health Check:  GET /health  →  { status: 'ok', service: '...', timestamp: '...'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Cauã —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25603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🖥  Ambiente Local (Docker Desktop)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Windows 10 Pro com Docker Desktop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7 containers orquestrados pelo Docker Compose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MongoDB com volume persistente (mongo_data)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Rede interna: task_network (bridge)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•  Zero dependências externas após docker pull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852160" cy="256032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🚀  Como Fazer o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6459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1. Instalar Docker Desktop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2. Clonar o repositório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3. cd TrabMarcio/task-manager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4. docker compose up -d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5. Aguardar MongoDB healthcheck (~20s)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6. API disponível em localhost:3000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Portas Expostas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ourier New"/>
              </a:rPr>
              <a:t>:3000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891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API Gateway (principal)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29768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3708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  <a:latin typeface="Courier New"/>
              </a:rPr>
              <a:t>:3001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3891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Auth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3708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  <a:latin typeface="Courier New"/>
              </a:rPr>
              <a:t>:3002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3891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Task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29768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3708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  <a:latin typeface="Courier New"/>
              </a:rPr>
              <a:t>:3003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438912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User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480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E"/>
                </a:solidFill>
                <a:latin typeface="Courier New"/>
              </a:rPr>
              <a:t>:3004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663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Grafana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07492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1480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ourier New"/>
              </a:rPr>
              <a:t>:9090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1663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074920"/>
            <a:ext cx="2788920" cy="658368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1480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ourier New"/>
              </a:rPr>
              <a:t>:27017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166360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CFE8"/>
                </a:solidFill>
                <a:latin typeface="Calibri"/>
              </a:rPr>
              <a:t>render.yaml presente no repositório para deploy em nuvem (Render.com)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Cauã — Documentação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Documentação da API — Swagger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29260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Auth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urier New"/>
              </a:rPr>
              <a:t>/api/auth/docs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:3001 ou via gateway 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POST /register  —  Registrar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POST /login  —  Autenticar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GET /me  —  Perfil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POST /refresh  —  Renovar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49039" cy="29260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Task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urier New"/>
              </a:rPr>
              <a:t>/api/tasks/docs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:3002 ou via gateway :3000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GET /tasks  —  Listar (filtros)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POST /tasks  —  Criar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PUT/PATCH/DELETE  —  CRUD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Restore &amp; Hard Delete (admin)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749039" cy="292608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User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CAE4"/>
                </a:solidFill>
                <a:latin typeface="Courier New"/>
              </a:rPr>
              <a:t>/api/users/docs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CFE8"/>
                </a:solidFill>
                <a:latin typeface="Calibri"/>
              </a:rPr>
              <a:t>:3003 ou via gateway :3000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GET /users  —  Listar (admin)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GET /users/:id  —  Buscar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PUT /users/:id  —  Atualizar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  •  DELETE /users/:id  —  Desativar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O que a documentação Swagger oferece: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  •  Interface visual para testar todos os endpoints diretamente no browser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  •  Autenticação JWT integrada: botão 'Authorize' com campo Bearer token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  •  Exemplos de request body com schemas detalhados (OpenAPI 3.0)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  •  Documentação de responses: 200, 201, 400, 401, 403, 404, 409, 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09360"/>
            <a:ext cx="25603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33679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OpenAPI 3.0  /  Swagger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6309360"/>
            <a:ext cx="20116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63367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Calibri"/>
              </a:rPr>
              <a:t>swagger-jsdoc + swagger-ui-express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01168"/>
            <a:ext cx="173736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Arthur —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45720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Aprendizados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Microserviços exigem contratos
bem definidos entre serviços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Docker Compose simplifica muito
a orquestração local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JWT stateless facilita escalar
horizontalmente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Prometheus + Grafana tornam
o sistema observável em tempo real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k6 revela gargalos antes de ir
para produção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749039" cy="45720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188720"/>
            <a:ext cx="502920" cy="5029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Pontos Fortes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Arquitetura desacoplada e escalável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0% de erros sob 100 VUs simultâneos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Documentação Swagger em todos
os serviços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Monitoramento completo com
auto-provisionamento Grafana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Segurança robusta (JWT, RBAC,
Helmet, Rate Limit, bcrypt)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4572000"/>
          </a:xfrm>
          <a:prstGeom prst="rect">
            <a:avLst/>
          </a:prstGeom>
          <a:solidFill>
            <a:srgbClr val="16324F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18872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Melhorias Futuras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37360"/>
            <a:ext cx="3474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Message broker (RabbitMQ/Kafka)
para comunicação assíncrona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CI/CD pipeline (GitHub Actions)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Deploy em Kubernetes (K8s)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Cache Redis para hot data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•  Autenticação OAuth2 / social 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ECFE8"/>
                </a:solidFill>
                <a:latin typeface="Calibri"/>
              </a:rPr>
              <a:t>Task Manager Microservices API  —  Desenvolvimento de Software para Web  —  Junho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ECFE8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